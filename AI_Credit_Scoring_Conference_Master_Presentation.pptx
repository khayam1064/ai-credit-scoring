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AI CREDIT SCORING ENGINE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Next-Generation Autonomous Underwriting &amp; Lakehouse Decisioning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Executive Keynote Conference Presentation</a:t>
            </a:r>
          </a:p>
          <a:p>
            <a:pPr>
              <a:spcBef>
                <a:spcPts val="1000"/>
              </a:spcBef>
              <a:defRPr sz="1800">
                <a:solidFill>
                  <a:srgbClr val="FBBF24"/>
                </a:solidFill>
              </a:defRPr>
            </a:pPr>
            <a:r>
              <a:t>Solving Unbanked Lending, Algorithmic Transparency, and Sub-15ms Underwriting</a:t>
            </a:r>
          </a:p>
          <a:p>
            <a:pPr>
              <a:spcBef>
                <a:spcPts val="2400"/>
              </a:spcBef>
              <a:defRPr sz="1400">
                <a:solidFill>
                  <a:srgbClr val="94A3B8"/>
                </a:solidFill>
              </a:defRPr>
            </a:pPr>
            <a:r>
              <a:t>Architectural Pillars: 15 Data Families | 12 Model Pillars | Monotonic Stacking Ensemble | 4-Bound Limits | IFRS 9 ECL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The Lending Paradigm Shift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Moving from Slow Static Bureaus to Real-Time Alternative AI Underwriting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Legacy Banking Limitations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Paperwork &amp; Manual Slips: Takes 5-7 business days per customer.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Thin-File Rejections: Over 70% of creditworthy citizens lack formal bureau files.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Self-Reported Salary Bias: Declared incomes are exaggerated by 30-50%.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Static Credit Limits: Fixed exposures create severe bust-out defaults.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Opaque Scoring: Black-box models trigger central bank compliance rejections.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The AI Credit Scoring Solution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Sub-15ms Live Decisions: Autonomous scoring via real-time REST API.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15 Alternative Data Families: Telco, wallet turnover, device telemetry &amp; behavioral.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Pinball Quantile Income: Machine-learned P10 conservative income floors.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Dynamic 4-Bound Limits: Real-time mathematical constraint engine.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TreeSHAP Explainability: 100% auditable adverse action regulatory reason codes.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Master End-to-End System Architecture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From 15 Raw Data Families to Final Approved Facility &amp; Accounting Ledger</a:t>
            </a:r>
          </a:p>
        </p:txBody>
      </p:sp>
      <p:pic>
        <p:nvPicPr>
          <p:cNvPr id="4" name="Picture 3" descr="ai_credit_scoring_flowch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418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Lakehouse Data Architecture: 15 Data Families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Medallion Architecture (Bronze Ingestion -&gt; Silver Feature Store -&gt; Gold Accounting Ledger)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Bronze: Raw Ingestion Lake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Family 01: NADRA / Demographics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Family 02: Mobile Device Telemetry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Family 03: In-App Application Meta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Family 04: Employer &amp; 1Link Payroll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Family 05: Declared / Ingested Salary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Family 06: Banking Statement Velocity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Family 07: JazzCash / Easypaisa Wallets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Family 08: Telco Recharge &amp; SIM Tenure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Silver: Curated Feature Store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250,000 Unified Entity Profiles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Curated in customer_features_v2.parquet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Snappy Columnar Compression (88 MB)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27 Engineered Real-Time Signals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Point-in-time correctness (Zero Leakage)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Eliminates Training-Serving Skew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Queried simultaneously by API &amp; Batch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Gold: Business &amp; Audit Layer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credit_scores_250k.parquet (Scored Universe)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disbursed_loans.parquet (Core Ledger)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grade_a_customers.csv (Super-Prime VIPs)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Double-Entry Accounting Ledger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Real-Time IFRS 9 ECL Provisioning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Population Stability Index (PSI) Drift Monitor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The 12 Sub-Pillar AI Models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Specialized Machine Learning Architecture for Multidimensional Credit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P01 to P06 Models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P01 Identity Trust: Rules + Gradient Boosting (CNIC match, age integrity).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P02 Fraud Risk: Isolation Forest + GNN + GBM (Rooted &amp; emulator knockouts).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P03 Income Estimation: LightGBM Pinball Quantile Regressors (P10, P50, P90).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P04 Cash Flow Health: GBM on rolling inflow/outflow liquidity volatility.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P05 Affordability: SBP FOIR &lt;= 45% statutory ceiling + disposable margin.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P06 Stability: GBM on employment duration &amp; residential persistence.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P07 to P12 Models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P07 Behavioral Risk: GRU Keystroke Sequence + Hesitation Score GBM.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P08 Digital Footprint: Alternative Telco SIM age &amp; digital maturity GBM.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P09 Bureau Proxy: Weight of Evidence (WoE) Scorecard + Cross-Inquiry GBM.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P10 Relationship &amp; Loyalty: Survival Analysis (Cox Hazards) + Clean Cycles.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P11 Collection Risk: Markov Chain Roll-Rate Matrix (30-&gt;60-&gt;90 DPD Cure).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P12 Statutory Compliance: Deterministic AML / PEP / NACTA Sanction Rules.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Meta-Stacking Ensemble &amp; Score Calibration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Level-0 Diversity -&gt; Level-1 Constrained Meta-Learner -&gt; Points to Double Odds (PDO)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Ensemble Mechanics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Level-0 Estimators: Logistic Regression + LightGBM + XGBoost.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Level-1 Meta-Learner: Constrained Stacking Classifier.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Monotonic Constraints (mono_constraints = -1): Guarantees risk strictly drops as creditworthiness indicators rise.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Isotonic &amp; Platt Calibration: Outputs un-skewed 12-month Probability of Default (PD %).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AUC-ROC = 0.892 | Gini = 0.784 | Brier Score = 0.042.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Credit Rating &amp; Grading Matrix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FICO Formula: Score = 600 + (20 / ln(2)) * (ln((1 - PD)/PD) - Base_Odds)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Grade A (Super-Prime): PD &lt;= 1.0% | Score: 780 - 850 | VIP Instant Pass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Grade B (Prime): PD 1.0% - 3.0% | Score: 700 - 779 | Auto Approved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Grade C (Near-Prime): PD 3.0% - 7.0% | Score: 620 - 699 | Standard Approval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Grade D (Sub-Prime): PD 7.0% - 15.0% | Score: 550 - 619 | Strict Bound Limits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Grade E (High Risk): PD &gt; 15.0% | Score: 300 - 549 | Systematic Decline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4-Bound Multi-Constraint Limit Engine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Mathematical Proof of Capital Preservation &amp; Dynamic Sizing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The 4 Sizing Boundaries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Bound 1 (Affordability): Max EMI based on conservative P10 income capped at FOIR &lt;= 45%.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Bound 2 (Risk Cap): k(Grade) * P50 income * 12 * 0.50 (where k = 1.5 for Grade A, down to 0.0 for Grade E).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Bound 3 (Policy Cap): PKR 2,000,000 fixed institutional ceiling.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Bound 4 (Progression): PKR 50,000 * 1.5^(min(Clean Cycles, 6)). Anti-Bust-Out step-up ladder.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Final Approved Limit: min(Bound 1, Bound 2, Bound 3, Bound 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Regulatory APR &amp; Pricing Engine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SBP Usury Cap: Hard statutory ceiling at 36.0% per annum.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Risk-Based Spread: Base KIBOR (18.5%) + Grade Risk Spread (4% to 16%).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Grade A APR: 22.5% (Lowest interest rate, highest credit limit).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Grade D APR: 34.5% (Compensates for elevated risk).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Double-Entry Accounting: Auto-disburses to Ledger upon acceptance.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Explainable AI &amp; Adverse Action Generator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100% Mathematical Transparency with Exact Shapley Values (TreeSHAP)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TreeSHAP Mathematical Engine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Game-Theoretic Feature Attribution: f(x) = phi_0 + sum(phi_i).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Fast Exact Tree Inference: Computes attribution in under 5 milliseconds.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Eliminates Black-Box Rejections: Satisfies Central Bank &amp; Fair Lending Audits.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Local Explanations per Customer: Exactly explains why a borrower got a specific score.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Global Feature Importance: Validates model integrity across 250,000 accounts.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Adverse Action Regulatory Disclosures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Top 5 Positive Drivers: Highlights borrower strengths (e.g. 0 NSF bounces, long SIM tenure, high salary stability).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Top 5 Negative Drivers: Concrete adverse action codes generated automatically.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Actionable Borrower Guidance: Tells declined applicants exactly how to improve (e.g. reduce FOIR below 45%, maintain balance).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Zero Disparate Impact: Protected demographic attributes excluded from scoring.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IFRS 9 ECL Provisioning &amp; Core Accounting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Institutional Financial Staging &amp; Double-Entry Ledgering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IFRS 9 Expected Credit Loss (ECL)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Formula: ECL = PD * LGD * EAD * Discount Factor.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Stage 1 (Normal Risk): 12-Month ECL for loans in good standing (&lt;30 DPD).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Stage 2 (SICR): Lifetime ECL for loans with significant increase in risk (30-89 DPD or 3-notch grade downgrade).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Stage 3 (Credit Impaired): Lifetime ECL + Specific Provisioning (&gt;=90 DPD Default).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Macroeconomic Sensitivity: Baseline, Optimistic, and Downturn Stress Scenarios.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Double-Entry Core Ledger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Append-Only Immutable Ledger: data/processed/disbursed_loans.parquet.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Journal Entry 1: Debit Loans Receivable (Asset) | Credit Customer Deposit/Wallet (Liability).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Journal Entry 2: Monthly Accrued Interest &amp; Principal Amortization.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Real-time Integration: Automated hooks for Ciihive LMS, T24, and Finacle.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Instant REST API Hook: POST /loans/disburse executes in &lt;20ms.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Enterprise Deployment: Online &amp; Offline Parity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Zero Cloud Lock-In | Sub-15ms Real-Time Serving | Air-Gapped Batch Processing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Mode 1: Online Synchronous Microservice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FastAPI + Uvicorn ASGI Server (Port 8000).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P99 Gateway Latency: 14.7 milliseconds per customer.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Interactive OpenAPI / Swagger Docs at /docs.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Endpoints: /score/customer/, /predict/customer/, /loans/disburse, /portfolio/ifrs9.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Connected to Streamlit Executive Portal (Port 8501).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75487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Mode 2: Offline Air-Gapped Batch Engine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Throughput: &gt;5,000 customers per second via vectorized multi-threading.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Zero Internet Requirement: Runs 100% offline inside secure bank vaults.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1-Click Desktop Launcher: run_offline_demo.bat.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Overnight Batch Script: python -m scoring.run_batch_scoring.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Containerized: Docker &amp; docker-compose ready for Kubernetes.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Production Readiness &amp; QA Stress Test Results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Automated Verification Suite (10/10 Passed - 100.0% Success Rate)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070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Enterprise Test Suite Results (scripts/qa_stress_test_suite.py)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TEST 01 [PASS]: Hard Stop Knockout Filters (Rooted devices &amp; emulator blocks trigger immediate 0 limit).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TEST 02 [PASS]: Null &amp; Missing Value Resilience (100% missing data gracefully handled without NaN crashes).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TEST 03 [PASS]: Extreme Outlier Robustness (PKR 100M extreme salaries correctly clamped by quantile P10/P50).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TEST 04 [PASS]: 4-Bound Constraint Invariants (Verified min(B1, B2, B3, B4) holds across all profiles).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TEST 05 [PASS]: SBP 36% Usury Cap Enforcement (Zero loans exceed statutory 36.0% interest rate).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TEST 06 [PASS]: IFRS 9 Staging Mathematical Integrity (Stage 1 + Stage 2 + Stage 3 = 100% Portfolio EAD).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TEST 07 [PASS]: TreeSHAP Explainability Completeness (Sum of local SHAP attributions matches predicted margin).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TEST 08 [PASS]: Double-Entry Ledger Consistency (Debits strictly equal credits on every disbursement).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TEST 09 [PASS]: Gateway Sub-100ms Latency SLA (Average latency 14.7ms vs 100ms enterprise budget).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TEST 10 [PASS]: Streamlit Executive Portal Health (HTTP 200 OK across all underwriter screens).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Summary &amp; Strategic Value Proposition</a:t>
            </a:r>
          </a:p>
          <a:p>
            <a:pPr>
              <a:spcBef>
                <a:spcPts val="400"/>
              </a:spcBef>
              <a:defRPr sz="1300">
                <a:solidFill>
                  <a:srgbClr val="94A3B8"/>
                </a:solidFill>
              </a:defRPr>
            </a:pPr>
            <a:r>
              <a:t>Autonomous AI Decisioning for Modern Financial Institutions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Speed &amp; Efficiency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&lt;15ms Decision Latency.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Replaces 5-day manual credit committees.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Zero paperwork loan journey (&lt;3 minutes).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Automated instant disbursement to wallets.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Risk &amp; Compliance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100% SBP 36% Usury &amp; 45% FOIR Compliance.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4-Bound Multi-Constraint Anti-Bust-Out protection.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Quantile P10 Income eliminates salary fraud.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Full IFRS 9 ECL regulatory staging.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91840" cy="45720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BBF24"/>
                </a:solidFill>
              </a:defRPr>
            </a:pPr>
            <a:r>
              <a:t>Enterprise Portability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Zero Cloud Vendor Lock-In.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Runs Online (FastAPI) and Offline (Air-Gapped).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Pre-integrated with Ciihive ERP &amp; Parquet Lakehouse.</a:t>
            </a:r>
          </a:p>
          <a:p>
            <a:pPr>
              <a:spcBef>
                <a:spcPts val="600"/>
              </a:spcBef>
              <a:defRPr sz="1200">
                <a:solidFill>
                  <a:srgbClr val="F8FAFC"/>
                </a:solidFill>
              </a:defRPr>
            </a:pPr>
            <a:r>
              <a:t>• Ready for immediate production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