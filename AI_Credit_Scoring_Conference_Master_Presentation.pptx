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AI CREDIT SCORING ENGINE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Next-Generation Autonomous Underwriting &amp; Lakehouse Decisioning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Executive Keynote Conference Presentation</a:t>
            </a:r>
          </a:p>
          <a:p>
            <a:pPr>
              <a:spcBef>
                <a:spcPts val="1000"/>
              </a:spcBef>
              <a:defRPr sz="1800">
                <a:solidFill>
                  <a:srgbClr val="FBBF24"/>
                </a:solidFill>
              </a:defRPr>
            </a:pPr>
            <a:r>
              <a:t>Solving Unbanked Lending, Algorithmic Transparency, and Sub-15ms Underwriting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Architectural Pillars: 15 Data Families | 12 Model Pillars | Monotonic Stacking Ensemble | 4-Bound Limits | IFRS 9 ECL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The Lending Paradigm Shift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Moving from Slow Static Bureaus to Real-Time Alternative AI Underwriting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Legacy Banking Limitations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Paperwork &amp; Manual Slips: Takes 5-7 business days per customer.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Thin-File Rejections: Over 70% of creditworthy citizens lack formal bureau files.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Self-Reported Salary Bias: Declared incomes are exaggerated by 30-50%.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Static Credit Limits: Fixed exposures create severe bust-out defaults.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Opaque Scoring: Black-box models trigger central bank compliance rejections.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The AI Credit Scoring Solution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Sub-15ms Live Decisions: Autonomous scoring via real-time REST API.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15 Alternative Data Families: Telco, wallet turnover, device telemetry &amp; behavioral.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Pinball Quantile Income: Machine-learned P10 conservative income floors.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Dynamic 4-Bound Limits: Real-time mathematical constraint engine.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TreeSHAP Explainability: 100% auditable adverse action regulatory reason codes.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High-Level Solution Context: Ciihive ERP &amp; AI Decisioning Flow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End-to-End Operational Lifecycle Across Channel, Core Banking LMS, and AI Decisioning Core</a:t>
            </a:r>
          </a:p>
        </p:txBody>
      </p:sp>
      <p:pic>
        <p:nvPicPr>
          <p:cNvPr id="4" name="Picture 3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End-to-End Decisioning Pipeline &amp; Data Flow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From 15 Raw Data Families (Bronze) to 4-Bound Limits &amp; Ledger (Gold)</a:t>
            </a:r>
          </a:p>
        </p:txBody>
      </p:sp>
      <p:pic>
        <p:nvPicPr>
          <p:cNvPr id="4" name="Picture 3" descr="ai_credit_scoring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Lakehouse Data Architecture: 15 Data Families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Medallion Architecture (Bronze Ingestion -&gt; Silver Feature Store -&gt; Gold Accounting Ledger)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Bronze: Raw Ingestion Lake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01: NADRA / Demographics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02: Mobile Device Telemetry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03: In-App Application Meta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04: Employer &amp; 1Link Payroll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05: Declared / Ingested Salary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06: Banking Statement Velocity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07: JazzCash / Easypaisa Wallets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Family 08: Telco Recharge &amp; SIM Tenure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Silver: Curated Feature Store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250,000 Unified Entity Profiles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Curated in customer_features_v2.parquet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Snappy Columnar Compression (88 MB)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27 Engineered Real-Time Signals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Point-in-time correctness (Zero Leakage)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Eliminates Training-Serving Skew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Queried simultaneously by API &amp; Batch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Gold: Business &amp; Audit Layer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credit_scores_250k.parquet (Scored Universe)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disbursed_loans.parquet (Core Ledger)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grade_a_customers.csv (Super-Prime VIPs)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Double-Entry Accounting Ledger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Real-Time IFRS 9 ECL Provisioning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Population Stability Index (PSI) Drift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The 12 Sub-Pillar AI Models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Specialized Machine Learning Architecture for Multidimensional Credit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P01 to P06 Models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P01 Identity Trust: Rules + Gradient Boosting (CNIC match, age integrity).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P02 Fraud Risk: Isolation Forest + GNN + GBM (Rooted &amp; emulator knockouts).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P03 Income Estimation: LightGBM Pinball Quantile Regressors (P10, P50, P90).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P04 Cash Flow Health: GBM on rolling inflow/outflow liquidity volatility.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P05 Affordability: SBP FOIR &lt;= 45% statutory ceiling + disposable margin.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P06 Stability: GBM on employment duration &amp; residential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P07 to P12 Models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P07 Behavioral Risk: GRU Keystroke Sequence + Hesitation Score GBM.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P08 Digital Footprint: Alternative Telco SIM age &amp; digital maturity GBM.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P09 Bureau Proxy: Weight of Evidence (WoE) Scorecard + Cross-Inquiry GBM.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P10 Relationship &amp; Loyalty: Survival Analysis (Cox Hazards) + Clean Cycles.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P11 Collection Risk: Markov Chain Roll-Rate Matrix (30-&gt;60-&gt;90 DPD Cure).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P12 Statutory Compliance: Deterministic AML / PEP / NACTA Sanction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Meta-Stacking Ensemble Performance &amp; ROC Curves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Level-0 Model Diversity Synthesized into a Monotonically Constrained Meta-Learner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Model Validation &amp; Discrimination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Level-0 Diversity: Logistic Regression, LightGBM, and XGBoost.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Constrained Meta-Learner: Enforces monotonic penalties (mono_constraints = -1).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Discriminatory Power: Meta-Stacking achieves AUC-ROC = 0.892 and Gini = 0.784.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Substantial Uplift: Outperforms standalone LightGBM (0.865) and XGBoost (0.854).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Probability Calibration: Brier score = 0.042 ensuring un-skewed 12-month PD.</a:t>
            </a:r>
          </a:p>
        </p:txBody>
      </p:sp>
      <p:pic>
        <p:nvPicPr>
          <p:cNvPr id="6" name="Picture 5" descr="char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Credit Score Calibration &amp; Rating Distribution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Points to Double Odds (PDO = 20, Base = 600 @ 50:1) across 250,000 Portfolio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Score Bands &amp; Acceptance Policy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A (780-850 | PD &lt;= 1.0%): 14.2% share. VIP Instant Auto-Approval.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B (700-779 | PD 1.0%-3.0%): 31.8% share. Core prime retail borrowing.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C (620-699 | PD 3.0%-7.0%): 28.5% share. Standard monitored terms.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D (550-619 | PD 7.0%-15.0%): 16.1% share. Strictly constrained limits.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E (300-549 | PD &gt; 15.0%): 9.4% share. Systematic Policy Decline.</a:t>
            </a:r>
          </a:p>
        </p:txBody>
      </p:sp>
      <p:pic>
        <p:nvPicPr>
          <p:cNvPr id="6" name="Picture 5" descr="chart_g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4-Bound Multi-Constraint Limit Engine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Mathematical Capital Preservation Guarantee (min(B1, B2, B3, B4))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The 4 Sizing Boundaries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Bound 1 (Affordability): Max EMI based on conservative P10 income capped at FOIR &lt;= 45%.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Bound 2 (Risk Cap): k(Grade) * P50 income * 12 * 0.50 (where k = 1.5 for Grade A, down to 0.0 for Grade E).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Bound 3 (Policy Cap): PKR 2,000,000 fixed institutional ceiling.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Bound 4 (Progression): PKR 50,000 * 1.5^(min(Clean Cycles, 6)). Anti-Bust-Out step-up ladder.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Final Approved Limit: min(Bound 1, Bound 2, Bound 3, Bound 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Regulatory APR &amp; Pricing Engine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SBP Usury Cap: Hard statutory ceiling at 36.0% per annum.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Risk-Based Spread: Base KIBOR (18.5%) + Grade Risk Spread (4% to 16%).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A APR: 22.5% (Lowest interest rate, highest credit limit).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Grade D APR: 34.5% (Compensates for elevated risk).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Double-Entry Accounting: Auto-disburses to Ledger upon acceptance.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Explainable AI &amp; Adverse Action Codes (TreeSHAP)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Local Shapley Value Feature Attribution &amp; Regulatory Disclosures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Algorithmic Transparency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Game-Theoretic Attribution: Exact Shapley decomposition in &lt; 5ms.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Regulatory Audit Trail: Every decision logs model version, feature vector, and SHAP vector.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Positive Trust Enhancers: Highlights key driver strengths that qualified the borrower.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Adverse Action Disclosures: Clear, actionable decline justifications for applicants.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Eliminates Disparate Impact: Protected attributes strictly excluded.</a:t>
            </a:r>
          </a:p>
        </p:txBody>
      </p:sp>
      <p:pic>
        <p:nvPicPr>
          <p:cNvPr id="6" name="Picture 5" descr="chart_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IFRS 9 ECL Provisioning &amp; Core Accounting Ledger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Automated Regulatory Impairment Staging and Double-Entry Ledgering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Stage Transitions &amp; Provisioning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Formula: ECL = PD * LGD * EAD * Discount Factor.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Stage 1 (Normal): 12-Month ECL for loans &lt;30 DPD (ECL = PKR 18.4M on PKR 1.84B EAD).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Stage 2 (SICR): Lifetime ECL for loans 30-89 DPD (ECL = PKR 44.3M on PKR 295M EAD).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Stage 3 (Default): Specific Impairment &gt;=90 DPD (ECL = PKR 59.0M on PKR 84M EAD).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Double-Entry Accounting: Ledger writes append-only records to disbursed_loans.parquet.</a:t>
            </a:r>
          </a:p>
        </p:txBody>
      </p:sp>
      <p:pic>
        <p:nvPicPr>
          <p:cNvPr id="6" name="Picture 5" descr="chart_ifrs9_st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Enterprise Deployment: Online &amp; Offline Parity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Zero Cloud Lock-In | Sub-15ms Real-Time Serving | Air-Gapped Batch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Mode 1: Online Synchronous Microservice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FastAPI + Uvicorn ASGI Server (Port 8000).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P99 Gateway Latency: 14.7 milliseconds per customer.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Interactive OpenAPI / Swagger Docs at /docs.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Endpoints: /score/customer/, /predict/customer/, /loans/disburse, /portfolio/ifrs9.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Connected to Streamlit Executive Portal (Port 8501).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Mode 2: Offline Air-Gapped Batch Engine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Throughput: &gt;5,000 customers per second via vectorized multi-threading.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Zero Internet Requirement: Runs 100% offline inside secure bank vaults.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1-Click Desktop Launcher: run_offline_demo.bat.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Overnight Batch Script: python -m scoring.run_batch_scoring.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Containerized: Docker &amp; docker-compose ready for Kubernetes.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Production Readiness &amp; QA Stress Test Results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Automated Verification Suite (10/10 Passed - 100.0% Success Rate)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070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Enterprise Test Suite Results (scripts/qa_stress_test_suite.py)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01 [PASS]: Hard Stop Knockout Filters (Rooted devices &amp; emulator blocks trigger immediate 0 limit).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02 [PASS]: Null &amp; Missing Value Resilience (100% missing data gracefully handled without NaN crashes).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03 [PASS]: Extreme Outlier Robustness (PKR 100M extreme salaries correctly clamped by quantile P10/P50).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04 [PASS]: 4-Bound Constraint Invariants (Verified min(B1, B2, B3, B4) holds across all profiles).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05 [PASS]: SBP 36% Usury Cap Enforcement (Zero loans exceed statutory 36.0% interest rate).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06 [PASS]: IFRS 9 Staging Mathematical Integrity (Stage 1 + Stage 2 + Stage 3 = 100% Portfolio EAD).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07 [PASS]: TreeSHAP Explainability Completeness (Sum of local SHAP attributions matches predicted margin).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08 [PASS]: Double-Entry Ledger Consistency (Debits strictly equal credits on every disbursement).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09 [PASS]: Gateway Sub-100ms Latency SLA (Average latency 14.7ms vs 100ms enterprise budget).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TEST 10 [PASS]: Streamlit Executive Portal Health (HTTP 200 OK across all underwriter screens).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Summary &amp; Strategic Value Proposition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Autonomous AI Decisioning for Modern Financial Institutions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Speed &amp; Efficiency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&lt;15ms Decision Latency.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Replaces 5-day manual credit committees.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Zero paperwork loan journey (&lt;3 minutes).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Automated instant disbursement to wallets.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Risk &amp; Compliance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100% SBP 36% Usury &amp; 45% FOIR Compliance.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4-Bound Multi-Constraint Anti-Bust-Out protection.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Quantile P10 Income eliminates salary fraud.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Full IFRS 9 ECL regulatory staging.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7548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Enterprise Portability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Zero Cloud Vendor Lock-In.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Runs Online (FastAPI) and Offline (Air-Gapped).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Pre-integrated with Ciihive ERP &amp; Parquet Lakehouse.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Ready for immediate 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